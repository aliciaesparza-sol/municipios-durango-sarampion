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>
                <a:solidFill>
                  <a:srgbClr val="F8FAFC"/>
                </a:solidFill>
                <a:latin typeface="Outfit"/>
              </a:rPr>
              <a:t>Análisis de Cobertura de Vacunación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>
                <a:solidFill>
                  <a:srgbClr val="F8FAFC"/>
                </a:solidFill>
                <a:latin typeface="Outfit"/>
              </a:rPr>
              <a:t>Comparativo Sarampión: Durango (2025 - 2026)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818CF8"/>
                </a:solidFill>
                <a:latin typeface="Outfit"/>
              </a:rPr>
              <a:t>Comparativo: 1 Año (1ra Dosis)</a:t>
            </a:r>
          </a:p>
        </p:txBody>
      </p:sp>
      <p:pic>
        <p:nvPicPr>
          <p:cNvPr id="3" name="Picture 2" descr="map_2025_12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840480" cy="39951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035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94A3B8"/>
                </a:solidFill>
                <a:latin typeface="Outfit"/>
              </a:rPr>
              <a:t>Pre-Brote (Abril 2025)</a:t>
            </a:r>
          </a:p>
        </p:txBody>
      </p:sp>
      <p:pic>
        <p:nvPicPr>
          <p:cNvPr id="5" name="Picture 4" descr="map_2026_12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71600"/>
            <a:ext cx="3840480" cy="39951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46320" y="53035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94A3B8"/>
                </a:solidFill>
                <a:latin typeface="Outfit"/>
              </a:rPr>
              <a:t>Situación Actual (2026)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818CF8"/>
                </a:solidFill>
                <a:latin typeface="Outfit"/>
              </a:rPr>
              <a:t>Comparativo: 18 Meses (2da Dosis)</a:t>
            </a:r>
          </a:p>
        </p:txBody>
      </p:sp>
      <p:pic>
        <p:nvPicPr>
          <p:cNvPr id="3" name="Picture 2" descr="map_2025_18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840480" cy="39951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035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94A3B8"/>
                </a:solidFill>
                <a:latin typeface="Outfit"/>
              </a:rPr>
              <a:t>Pre-Brote (Abril 2025)</a:t>
            </a:r>
          </a:p>
        </p:txBody>
      </p:sp>
      <p:pic>
        <p:nvPicPr>
          <p:cNvPr id="5" name="Picture 4" descr="map_2026_18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71600"/>
            <a:ext cx="3840480" cy="39951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46320" y="53035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94A3B8"/>
                </a:solidFill>
                <a:latin typeface="Outfit"/>
              </a:rPr>
              <a:t>Situación Actual (2026)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818CF8"/>
                </a:solidFill>
                <a:latin typeface="Outfit"/>
              </a:rPr>
              <a:t>Comparativo: 6 Años (2da Dosis)</a:t>
            </a:r>
          </a:p>
        </p:txBody>
      </p:sp>
      <p:pic>
        <p:nvPicPr>
          <p:cNvPr id="3" name="Picture 2" descr="map_2025_6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840480" cy="39951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035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94A3B8"/>
                </a:solidFill>
                <a:latin typeface="Outfit"/>
              </a:rPr>
              <a:t>Pre-Brote (Abril 2025)</a:t>
            </a:r>
          </a:p>
        </p:txBody>
      </p:sp>
      <p:pic>
        <p:nvPicPr>
          <p:cNvPr id="5" name="Picture 4" descr="map_2026_6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71600"/>
            <a:ext cx="3840480" cy="39951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46320" y="53035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94A3B8"/>
                </a:solidFill>
                <a:latin typeface="Outfit"/>
              </a:rPr>
              <a:t>Situación Actual (2026)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